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2103120"/>
            <a:ext cx="6035040" cy="4206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2E5C"/>
                </a:solidFill>
                <a:latin typeface="Arial"/>
              </a:rPr>
              <a:t>Problem Statement ID – </a:t>
            </a:r>
            <a:r>
              <a:rPr sz="1500" b="0">
                <a:solidFill>
                  <a:srgbClr val="1B2836"/>
                </a:solidFill>
                <a:latin typeface="Arial"/>
              </a:rPr>
              <a:t>26061</a:t>
            </a:r>
          </a:p>
          <a:p>
            <a:pPr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0B2E5C"/>
                </a:solidFill>
                <a:latin typeface="Arial"/>
              </a:rPr>
              <a:t>Problem Statement Title – </a:t>
            </a:r>
            <a:r>
              <a:rPr sz="1500" b="0">
                <a:solidFill>
                  <a:srgbClr val="1B2836"/>
                </a:solidFill>
                <a:latin typeface="Arial"/>
              </a:rPr>
              <a:t>AI-Driven Smart Energy Management System for Polar Research Stations</a:t>
            </a:r>
          </a:p>
          <a:p>
            <a:pPr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0B2E5C"/>
                </a:solidFill>
                <a:latin typeface="Arial"/>
              </a:rPr>
              <a:t>Theme – </a:t>
            </a:r>
            <a:r>
              <a:rPr sz="1500" b="0">
                <a:solidFill>
                  <a:srgbClr val="1B2836"/>
                </a:solidFill>
                <a:latin typeface="Arial"/>
              </a:rPr>
              <a:t>Clean &amp; Green Technology</a:t>
            </a:r>
          </a:p>
          <a:p>
            <a:pPr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0B2E5C"/>
                </a:solidFill>
                <a:latin typeface="Arial"/>
              </a:rPr>
              <a:t>PS Category – </a:t>
            </a:r>
            <a:r>
              <a:rPr sz="1500" b="0">
                <a:solidFill>
                  <a:srgbClr val="1B2836"/>
                </a:solidFill>
                <a:latin typeface="Arial"/>
              </a:rPr>
              <a:t>Software</a:t>
            </a:r>
          </a:p>
          <a:p>
            <a:pPr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0B2E5C"/>
                </a:solidFill>
                <a:latin typeface="Arial"/>
              </a:rPr>
              <a:t>Team ID – </a:t>
            </a:r>
            <a:r>
              <a:rPr sz="1500" b="0">
                <a:solidFill>
                  <a:srgbClr val="1B2836"/>
                </a:solidFill>
                <a:latin typeface="Arial"/>
              </a:rPr>
              <a:t>«TEAM ID»</a:t>
            </a:r>
          </a:p>
          <a:p>
            <a:pPr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0B2E5C"/>
                </a:solidFill>
                <a:latin typeface="Arial"/>
              </a:rPr>
              <a:t>Team Name – </a:t>
            </a:r>
            <a:r>
              <a:rPr sz="1500" b="0">
                <a:solidFill>
                  <a:srgbClr val="1B2836"/>
                </a:solidFill>
                <a:latin typeface="Arial"/>
              </a:rPr>
              <a:t>«TEAM NAME»</a:t>
            </a:r>
          </a:p>
          <a:p>
            <a:pPr>
              <a:spcBef>
                <a:spcPts val="2000"/>
              </a:spcBef>
              <a:spcAft>
                <a:spcPts val="0"/>
              </a:spcAft>
            </a:pPr>
            <a:r>
              <a:rPr sz="1150" b="1">
                <a:solidFill>
                  <a:srgbClr val="5A6B80"/>
                </a:solidFill>
                <a:latin typeface="Arial"/>
              </a:rPr>
              <a:t>Organisation:  </a:t>
            </a:r>
            <a:r>
              <a:rPr sz="1150" b="0">
                <a:solidFill>
                  <a:srgbClr val="5A6B80"/>
                </a:solidFill>
                <a:latin typeface="Arial"/>
              </a:rPr>
              <a:t>Ministry of Earth Sciences · National Centre for Polar and Ocean Research (NCPOR)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latin typeface="Arial"/>
              </a:rPr>
              <a:t>«TEAM NAME»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29184" y="1060704"/>
            <a:ext cx="11539728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2E5C"/>
                </a:solidFill>
                <a:latin typeface="Arial"/>
              </a:rPr>
              <a:t>HIMSHAKTI</a:t>
            </a:r>
            <a:r>
              <a:rPr sz="1500" b="0">
                <a:solidFill>
                  <a:srgbClr val="A65E06"/>
                </a:solidFill>
                <a:latin typeface="Arial"/>
              </a:rPr>
              <a:t>   │   Predictive energy management that turns fuel savings into extra days of survival at Bharati</a:t>
            </a:r>
          </a:p>
        </p:txBody>
      </p:sp>
      <p:pic>
        <p:nvPicPr>
          <p:cNvPr id="15363" name="Picture 15362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1645920"/>
            <a:ext cx="11539728" cy="1923288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329184" y="3639312"/>
            <a:ext cx="3675887" cy="2670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E5C"/>
                </a:solidFill>
                <a:latin typeface="Arial"/>
              </a:rPr>
              <a:t>THE PROBLEM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Bharati, Maitri and Himadri are electrical islands — no grid, no neighbour, no backup supply.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Diesel arrives ONCE a year by ship. It must last 12 months — run short in winter and nobody is coming.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A genset at 25 % load burns ~1.5–2× more fuel per kWh than at 75 %, and wet-stacks below ~30 %.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Polar night removes solar for months; blizzards force turbines offline exactly when demand peaks.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133087" y="3639312"/>
            <a:ext cx="3675887" cy="2670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2E5C"/>
                </a:solidFill>
                <a:latin typeface="Arial"/>
              </a:rPr>
              <a:t>OUR SOLUTION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Forecast electrical load, heat demand, solar and wind 72 h ahead.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A MILP re-optimises every hour across a 48 h rolling horizon.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Commits the right genset, holds it in its efficient band, then shuts it off entirely on battery.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Shifts snow-melting, water heating and charging into wind-surplus windows.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Tracks the annual fuel budget and reports it as days of autonomy.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7936992" y="3639312"/>
            <a:ext cx="3931920" cy="2670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65E06"/>
                </a:solidFill>
                <a:latin typeface="Arial"/>
              </a:rPr>
              <a:t>WHAT MAKES IT NEW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Co-optimises electricity AND recovered waste heat. Switching a genset off forces the boiler on — optimising electricity alone gets the wrong answer.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Predictive horizon optimisation, where today's best polar EMS (Princess Elisabeth Antarctica) uses reactive PLC priority logic.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Deterministic rule-based fallback — a life-safety system cannot depend on a solver converging.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4A9FD8"/>
                </a:solidFill>
                <a:latin typeface="Arial"/>
              </a:rPr>
              <a:t>▪  </a:t>
            </a:r>
            <a:r>
              <a:rPr sz="1150" b="0">
                <a:solidFill>
                  <a:srgbClr val="1B2836"/>
                </a:solidFill>
                <a:latin typeface="Arial"/>
              </a:rPr>
              <a:t>Runs offline, CPU-only, on existing station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latin typeface="Arial"/>
              </a:rPr>
              <a:t>«TEAM NAME»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097280"/>
            <a:ext cx="507492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2E5C"/>
                </a:solidFill>
                <a:latin typeface="Arial"/>
              </a:rPr>
              <a:t>TECHNOLOGIES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Core — </a:t>
            </a:r>
            <a:r>
              <a:rPr sz="1300" b="0">
                <a:solidFill>
                  <a:srgbClr val="1B2836"/>
                </a:solidFill>
                <a:latin typeface="Arial"/>
              </a:rPr>
              <a:t>Python 3.11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Optimisation — </a:t>
            </a:r>
            <a:r>
              <a:rPr sz="1300" b="0">
                <a:solidFill>
                  <a:srgbClr val="1B2836"/>
                </a:solidFill>
                <a:latin typeface="Arial"/>
              </a:rPr>
              <a:t>Google OR-Tools CP-SAT (fallback PuLP / CBC)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Forecasting — </a:t>
            </a:r>
            <a:r>
              <a:rPr sz="1300" b="0">
                <a:solidFill>
                  <a:srgbClr val="1B2836"/>
                </a:solidFill>
                <a:latin typeface="Arial"/>
              </a:rPr>
              <a:t>LightGBM, scikit-learn, pandas, NumPy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Backend — </a:t>
            </a:r>
            <a:r>
              <a:rPr sz="1300" b="0">
                <a:solidFill>
                  <a:srgbClr val="1B2836"/>
                </a:solidFill>
                <a:latin typeface="Arial"/>
              </a:rPr>
              <a:t>FastAPI + WebSocket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Frontend — </a:t>
            </a:r>
            <a:r>
              <a:rPr sz="1300" b="0">
                <a:solidFill>
                  <a:srgbClr val="1B2836"/>
                </a:solidFill>
                <a:latin typeface="Arial"/>
              </a:rPr>
              <a:t>React + Vite + Recharts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Data — </a:t>
            </a:r>
            <a:r>
              <a:rPr sz="1300" b="0">
                <a:solidFill>
                  <a:srgbClr val="1B2836"/>
                </a:solidFill>
                <a:latin typeface="Arial"/>
              </a:rPr>
              <a:t>SQLite / Parquet, no server required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Digital twin — </a:t>
            </a:r>
            <a:r>
              <a:rPr sz="1300" b="0">
                <a:solidFill>
                  <a:srgbClr val="1B2836"/>
                </a:solidFill>
                <a:latin typeface="Arial"/>
              </a:rPr>
              <a:t>PolarSim, custom physics engine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Deployment — </a:t>
            </a:r>
            <a:r>
              <a:rPr sz="1300" b="0">
                <a:solidFill>
                  <a:srgbClr val="1B2836"/>
                </a:solidFill>
                <a:latin typeface="Arial"/>
              </a:rPr>
              <a:t>on-premise, CPU-only. No cloud, no GPU, no dependence on satellite uplink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Stretch — </a:t>
            </a:r>
            <a:r>
              <a:rPr sz="1300" b="0">
                <a:solidFill>
                  <a:srgbClr val="1B2836"/>
                </a:solidFill>
                <a:latin typeface="Arial"/>
              </a:rPr>
              <a:t>ESP32 + CT sensors + relays for a hardware-in-the-loop rig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596128" y="1097280"/>
            <a:ext cx="6272784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A65E06"/>
                </a:solidFill>
                <a:latin typeface="Arial"/>
              </a:rPr>
              <a:t>THE OPTIMISATION CORE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50" b="1">
                <a:solidFill>
                  <a:srgbClr val="A65E06"/>
                </a:solidFill>
                <a:latin typeface="Arial"/>
              </a:rPr>
              <a:t>minimise  </a:t>
            </a:r>
            <a:r>
              <a:rPr sz="1350" b="0">
                <a:solidFill>
                  <a:srgbClr val="1B2836"/>
                </a:solidFill>
                <a:latin typeface="Arial"/>
              </a:rPr>
              <a:t>Σ fuel(g,t)  +  start-up penalty  +  comfort penalty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50" b="1">
                <a:solidFill>
                  <a:srgbClr val="A65E06"/>
                </a:solidFill>
                <a:latin typeface="Arial"/>
              </a:rPr>
              <a:t>subject to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Electrical balance — </a:t>
            </a:r>
            <a:r>
              <a:rPr sz="1300" b="0">
                <a:solidFill>
                  <a:srgbClr val="1B2836"/>
                </a:solidFill>
                <a:latin typeface="Arial"/>
              </a:rPr>
              <a:t>Σ P_gen + P_batt,dis + P_renewable = P_load + P_batt,ch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Thermal balance — </a:t>
            </a:r>
            <a:r>
              <a:rPr sz="1300" b="0">
                <a:solidFill>
                  <a:srgbClr val="1B2836"/>
                </a:solidFill>
                <a:latin typeface="Arial"/>
              </a:rPr>
              <a:t>Q_wasteheat + Q_boiler ≥ Q_heating + Q_snowmelt   ← the coupling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Genset limits — </a:t>
            </a:r>
            <a:r>
              <a:rPr sz="1300" b="0">
                <a:solidFill>
                  <a:srgbClr val="1B2836"/>
                </a:solidFill>
                <a:latin typeface="Arial"/>
              </a:rPr>
              <a:t>minimum stable load (anti wet-stacking), minimum up / down time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Storage — </a:t>
            </a:r>
            <a:r>
              <a:rPr sz="1300" b="0">
                <a:solidFill>
                  <a:srgbClr val="1B2836"/>
                </a:solidFill>
                <a:latin typeface="Arial"/>
              </a:rPr>
              <a:t>battery SoC bounds with cold-temperature capacity derating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Deferrables — </a:t>
            </a:r>
            <a:r>
              <a:rPr sz="1300" b="0">
                <a:solidFill>
                  <a:srgbClr val="1B2836"/>
                </a:solidFill>
                <a:latin typeface="Arial"/>
              </a:rPr>
              <a:t>each flexible load must finish inside its deadline window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0B2E5C"/>
                </a:solidFill>
                <a:latin typeface="Arial"/>
              </a:rPr>
              <a:t>Security — </a:t>
            </a:r>
            <a:r>
              <a:rPr sz="1300" b="0">
                <a:solidFill>
                  <a:srgbClr val="1B2836"/>
                </a:solidFill>
                <a:latin typeface="Arial"/>
              </a:rPr>
              <a:t>N-1 spinning reserve, so the largest genset can trip and the station survives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4590288"/>
            <a:ext cx="1153972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2E5C"/>
                </a:solidFill>
                <a:latin typeface="Arial"/>
              </a:rPr>
              <a:t>METHODOLOGY — </a:t>
            </a:r>
            <a:r>
              <a:rPr sz="1150" b="0">
                <a:solidFill>
                  <a:srgbClr val="5A6B80"/>
                </a:solidFill>
                <a:latin typeface="Arial"/>
              </a:rPr>
              <a:t>implementation sequence. The optimiser is built and validated on perfect foresight before the forecaster exists, so the hardest component is proven first.</a:t>
            </a:r>
          </a:p>
        </p:txBody>
      </p:sp>
      <p:pic>
        <p:nvPicPr>
          <p:cNvPr id="17413" name="Picture 17412" descr="pha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4956048"/>
            <a:ext cx="11539728" cy="1115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latin typeface="Arial"/>
              </a:rPr>
              <a:t>«TEAM NAME»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097280"/>
            <a:ext cx="507492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2E5C"/>
                </a:solidFill>
                <a:latin typeface="Arial"/>
              </a:rPr>
              <a:t>WHY IT IS FEASIBLE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0">
                <a:solidFill>
                  <a:srgbClr val="1B2836"/>
                </a:solidFill>
                <a:latin typeface="Arial"/>
              </a:rPr>
              <a:t>Software-only. It retrofits onto the meters and DG control panels a station already has — no new plant, no capital works.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0">
                <a:solidFill>
                  <a:srgbClr val="1B2836"/>
                </a:solidFill>
                <a:latin typeface="Arial"/>
              </a:rPr>
              <a:t>A MILP of this size solves in seconds on a laptop CPU, so it re-plans every hour without special hardware.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0">
                <a:solidFill>
                  <a:srgbClr val="1B2836"/>
                </a:solidFill>
                <a:latin typeface="Arial"/>
              </a:rPr>
              <a:t>Fully offline. No reliance on the thin, expensive satellite link.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0">
                <a:solidFill>
                  <a:srgbClr val="1B2836"/>
                </a:solidFill>
                <a:latin typeface="Arial"/>
              </a:rPr>
              <a:t>Proven precedent: Mawson Station (Australian Antarctic Division) cut diesel from 600,000 L/yr to under 200,000 L/yr through wind integration.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0">
                <a:solidFill>
                  <a:srgbClr val="1B2836"/>
                </a:solidFill>
                <a:latin typeface="Arial"/>
              </a:rPr>
              <a:t>Aligns with MoES's stated Maitri II objective of a renewable-powered green station.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596128" y="1097280"/>
            <a:ext cx="6272784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392B"/>
                </a:solidFill>
                <a:latin typeface="Arial"/>
              </a:rPr>
              <a:t>KEY RISKS → MITIGATION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▸  </a:t>
            </a:r>
            <a:r>
              <a:rPr sz="1250" b="1">
                <a:solidFill>
                  <a:srgbClr val="C0392B"/>
                </a:solidFill>
                <a:latin typeface="Arial"/>
              </a:rPr>
              <a:t>No public NCPOR energy dataset  →  </a:t>
            </a:r>
            <a:r>
              <a:rPr sz="1250" b="0">
                <a:solidFill>
                  <a:srgbClr val="1B2836"/>
                </a:solidFill>
                <a:latin typeface="Arial"/>
              </a:rPr>
              <a:t>Physics-based digital twin calibrated against published Antarctic station energy data; retrain on real telemetry the moment NCPOR shares it.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▸  </a:t>
            </a:r>
            <a:r>
              <a:rPr sz="1250" b="1">
                <a:solidFill>
                  <a:srgbClr val="C0392B"/>
                </a:solidFill>
                <a:latin typeface="Arial"/>
              </a:rPr>
              <a:t>Forecast error erodes the saving  →  </a:t>
            </a:r>
            <a:r>
              <a:rPr sz="1250" b="0">
                <a:solidFill>
                  <a:srgbClr val="1B2836"/>
                </a:solidFill>
                <a:latin typeface="Arial"/>
              </a:rPr>
              <a:t>P10/P50/P90 quantile forecasts size a reserve margin. We report savings under real forecast error, never under perfect foresight.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▸  </a:t>
            </a:r>
            <a:r>
              <a:rPr sz="1250" b="1">
                <a:solidFill>
                  <a:srgbClr val="C0392B"/>
                </a:solidFill>
                <a:latin typeface="Arial"/>
              </a:rPr>
              <a:t>Solver fails to converge  →  </a:t>
            </a:r>
            <a:r>
              <a:rPr sz="1250" b="0">
                <a:solidFill>
                  <a:srgbClr val="1B2836"/>
                </a:solidFill>
                <a:latin typeface="Arial"/>
              </a:rPr>
              <a:t>A deterministic rule-based dispatcher always returns a feasible, safe schedule. The optimiser improves on it; it is never load-bearing for safety.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▸  </a:t>
            </a:r>
            <a:r>
              <a:rPr sz="1250" b="1">
                <a:solidFill>
                  <a:srgbClr val="C0392B"/>
                </a:solidFill>
                <a:latin typeface="Arial"/>
              </a:rPr>
              <a:t>Asset failure in deep winter  →  </a:t>
            </a:r>
            <a:r>
              <a:rPr sz="1250" b="0">
                <a:solidFill>
                  <a:srgbClr val="1B2836"/>
                </a:solidFill>
                <a:latin typeface="Arial"/>
              </a:rPr>
              <a:t>Mawson lost a turbine in 2017 and never restored it. N-1 reserve is enforced as a hard constraint, not an afterthought.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▸  </a:t>
            </a:r>
            <a:r>
              <a:rPr sz="1250" b="1">
                <a:solidFill>
                  <a:srgbClr val="C0392B"/>
                </a:solidFill>
                <a:latin typeface="Arial"/>
              </a:rPr>
              <a:t>Operator trust  →  </a:t>
            </a:r>
            <a:r>
              <a:rPr sz="1250" b="0">
                <a:solidFill>
                  <a:srgbClr val="1B2836"/>
                </a:solidFill>
                <a:latin typeface="Arial"/>
              </a:rPr>
              <a:t>Every recommendation is shown with its reason and the litres it saves. The station engineer stays in the loop and can override.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29184" y="4498848"/>
            <a:ext cx="1153972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6B4F"/>
                </a:solidFill>
                <a:latin typeface="Arial"/>
              </a:rPr>
              <a:t>VIABILITY — </a:t>
            </a:r>
            <a:r>
              <a:rPr sz="1150" b="0">
                <a:solidFill>
                  <a:srgbClr val="5A6B80"/>
                </a:solidFill>
                <a:latin typeface="Arial"/>
              </a:rPr>
              <a:t>staged path to deployment. Nothing is automated until it has been shown to work on the station's own data, with the engineer approving every action first.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9184" y="4864608"/>
            <a:ext cx="2761488" cy="1316736"/>
          </a:xfrm>
          <a:prstGeom prst="round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STEP 1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Validate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Prove the saving on the calibrated digital twin across 10+ weather seeds and a full annual cycle.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55264" y="4864608"/>
            <a:ext cx="2761488" cy="1316736"/>
          </a:xfrm>
          <a:prstGeom prst="round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STEP 2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Pilot on real logs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Replay NCPOR's historical station records; retrain and re-measure against actual fuel drawn.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81344" y="4864608"/>
            <a:ext cx="2761488" cy="1316736"/>
          </a:xfrm>
          <a:prstGeom prst="roundRect">
            <a:avLst/>
          </a:prstGeom>
          <a:solidFill>
            <a:srgbClr val="D98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STEP 3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Advisory mode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Run live at Bharati recommending only. The station engineer approves or overrides every action.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107424" y="4864608"/>
            <a:ext cx="2761488" cy="1316736"/>
          </a:xfrm>
          <a:prstGeom prst="round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STEP 4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Closed loop &amp; scale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Automate dispatch once trust is earned; extend to Maitri, Himadri and Maitri II.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latin typeface="Arial"/>
              </a:rPr>
              <a:t>«TEAM NAME»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115568"/>
            <a:ext cx="3675887" cy="1188720"/>
          </a:xfrm>
          <a:prstGeom prst="roundRect">
            <a:avLst/>
          </a:prstGeom>
          <a:solidFill>
            <a:srgbClr val="D98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12 – 18 %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less fuel burned per year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33087" y="1115568"/>
            <a:ext cx="3675887" cy="1188720"/>
          </a:xfrm>
          <a:prstGeom prst="round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60 – 90 kL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diesel saved annually  (1 kL = 1,000 L)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936992" y="1115568"/>
            <a:ext cx="3931920" cy="1188720"/>
          </a:xfrm>
          <a:prstGeom prst="round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+45 to +65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extra days of autonomy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29184" y="2377440"/>
            <a:ext cx="1153972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0392B"/>
                </a:solidFill>
                <a:latin typeface="Arial"/>
              </a:rPr>
              <a:t>PROJECTED — </a:t>
            </a:r>
            <a:r>
              <a:rPr sz="1150" b="0">
                <a:solidFill>
                  <a:srgbClr val="5A6B80"/>
                </a:solidFill>
                <a:latin typeface="Arial"/>
              </a:rPr>
              <a:t>basis: ~500,000 L/yr for a Bharati-scale station (Mawson pre-wind: 600,000 L/yr); 12–18 % attributed to predictive dispatch and load shifting. To be replaced by measured simulation results.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29184" y="2852928"/>
            <a:ext cx="5669280" cy="17007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E5C"/>
                </a:solidFill>
                <a:latin typeface="Arial"/>
              </a:rPr>
              <a:t>OPERATIONAL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 i="0">
                <a:solidFill>
                  <a:srgbClr val="1B2836"/>
                </a:solidFill>
                <a:latin typeface="Arial"/>
              </a:rPr>
              <a:t>Fuel saved converts directly into resupply flexibility. After wind integration, the AAD was able to move Mawson from a mandatory annual refuelling voyage to one every second year. Lower risk of a winter stockout, and schedule slack when sea ice delays a ship.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199632" y="2852928"/>
            <a:ext cx="5669280" cy="17007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6B4F"/>
                </a:solidFill>
                <a:latin typeface="Arial"/>
              </a:rPr>
              <a:t>ECONOMIC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 i="0">
                <a:solidFill>
                  <a:srgbClr val="1B2836"/>
                </a:solidFill>
                <a:latin typeface="Arial"/>
              </a:rPr>
              <a:t>A litre of diesel at an Antarctic station costs many times its pump price once ice-class shipping, handling and storage are counted. Mawson's turbines saved AUD 263,000 of fuel in 2014 alone. Fewer voyages compound the saving.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29184" y="4626864"/>
            <a:ext cx="5669280" cy="17007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FD8"/>
                </a:solidFill>
                <a:latin typeface="Arial"/>
              </a:rPr>
              <a:t>ENVIRONMENTAL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 i="0">
                <a:solidFill>
                  <a:srgbClr val="1B2836"/>
                </a:solidFill>
                <a:latin typeface="Arial"/>
              </a:rPr>
              <a:t>Cuts CO₂ and black carbon. Soot deposition darkens snow, lowers albedo and accelerates local melt — a direct harm in a protected region. Supports India's obligations under the Antarctic Treaty and its Madrid Protocol.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199632" y="4626864"/>
            <a:ext cx="5669280" cy="17007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5E06"/>
                </a:solidFill>
                <a:latin typeface="Arial"/>
              </a:rPr>
              <a:t>STRATEGIC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 i="0">
                <a:solidFill>
                  <a:srgbClr val="1B2836"/>
                </a:solidFill>
                <a:latin typeface="Arial"/>
              </a:rPr>
              <a:t>A design blueprint for Maitri II's green-station goal, and transferable wherever a microgrid runs on delivered fuel: Himadri, high-altitude border posts, island grids and disaster-relief deployments.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latin typeface="Arial"/>
              </a:rPr>
              <a:t>«TEAM NAME»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097280"/>
            <a:ext cx="5669280" cy="5120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E5C"/>
                </a:solidFill>
                <a:latin typeface="Arial"/>
              </a:rPr>
              <a:t>PROBLEM DOMAIN — INDIAN POLAR PROGRAMME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1B2836"/>
                </a:solidFill>
                <a:latin typeface="Arial"/>
              </a:rPr>
              <a:t>NCPOR — Bharati Station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6FA8"/>
                </a:solidFill>
                <a:latin typeface="Arial"/>
              </a:rPr>
              <a:t>     ncpor.res.in/antarcticas/display/377-bharati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1B2836"/>
                </a:solidFill>
                <a:latin typeface="Arial"/>
              </a:rPr>
              <a:t>NCPOR — Himadri Station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6FA8"/>
                </a:solidFill>
                <a:latin typeface="Arial"/>
              </a:rPr>
              <a:t>     ncpor.res.in/app/webroot/pages/view/340-himadri-station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1B2836"/>
                </a:solidFill>
                <a:latin typeface="Arial"/>
              </a:rPr>
              <a:t>Smart India Hackathon — PS 26061, MoES / NCPOR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6FA8"/>
                </a:solidFill>
                <a:latin typeface="Arial"/>
              </a:rPr>
              <a:t>     sih.gov.in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sz="1400" b="1" i="0">
                <a:solidFill>
                  <a:srgbClr val="0B2E5C"/>
                </a:solidFill>
                <a:latin typeface="Arial"/>
              </a:rPr>
              <a:t>POLICY &amp; ENVIRONMENTAL CONTEXT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1B2836"/>
                </a:solidFill>
                <a:latin typeface="Arial"/>
              </a:rPr>
              <a:t>Antarctic Treaty Secretariat — Protocol on Environmental Protection (Madrid Protocol)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6FA8"/>
                </a:solidFill>
                <a:latin typeface="Arial"/>
              </a:rPr>
              <a:t>     ats.aq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sz="1400" b="1" i="0">
                <a:solidFill>
                  <a:srgbClr val="0B2E5C"/>
                </a:solidFill>
                <a:latin typeface="Arial"/>
              </a:rPr>
              <a:t>OPTIMISATION &amp; ML TOOLING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1B2836"/>
                </a:solidFill>
                <a:latin typeface="Arial"/>
              </a:rPr>
              <a:t>Google OR-Tools — CP-SAT solver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6FA8"/>
                </a:solidFill>
                <a:latin typeface="Arial"/>
              </a:rPr>
              <a:t>     developers.google.com/optimization/cp</a:t>
            </a: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1B2836"/>
                </a:solidFill>
                <a:latin typeface="Arial"/>
              </a:rPr>
              <a:t>LightGBM — gradient boosting framework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6FA8"/>
                </a:solidFill>
                <a:latin typeface="Arial"/>
              </a:rPr>
              <a:t>     lightgbm.readthedocs.io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199632" y="1097280"/>
            <a:ext cx="5669280" cy="37490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2E5C"/>
                </a:solidFill>
                <a:latin typeface="Arial"/>
              </a:rPr>
              <a:t>PRECEDENT — POLAR STATION ENERGY SYSTEMS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1B2836"/>
                </a:solidFill>
                <a:latin typeface="Arial"/>
              </a:rPr>
              <a:t>Australian Antarctic Program — Wind power at Antarctic stations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F6FA8"/>
                </a:solidFill>
                <a:latin typeface="Arial"/>
              </a:rPr>
              <a:t>     antarctica.gov.au/antarctic-operations/stations-and-field-locations/amenities-and-operations/renewable-energy/wind-power/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1B2836"/>
                </a:solidFill>
                <a:latin typeface="Arial"/>
              </a:rPr>
              <a:t>Mawson: Antarctica's first wind-powered station — AAD magazine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F6FA8"/>
                </a:solidFill>
                <a:latin typeface="Arial"/>
              </a:rPr>
              <a:t>     antarctica.gov.au/magazine/issue-6-autumn-2004/feature/mawson-antarcticas-first-wind-powered-station/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1B2836"/>
                </a:solidFill>
                <a:latin typeface="Arial"/>
              </a:rPr>
              <a:t>Princess Elisabeth Antarctica — renewable energy and smart microgrid (Laborelec / Schneider Electric EMS)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F6FA8"/>
                </a:solidFill>
                <a:latin typeface="Arial"/>
              </a:rPr>
              <a:t>     antarcticstation.org/station/renewable_energies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300" b="0">
                <a:solidFill>
                  <a:srgbClr val="4A9FD8"/>
                </a:solidFill>
                <a:latin typeface="Arial"/>
              </a:rPr>
              <a:t>▪  </a:t>
            </a:r>
            <a:r>
              <a:rPr sz="1300" b="1">
                <a:solidFill>
                  <a:srgbClr val="1B2836"/>
                </a:solidFill>
                <a:latin typeface="Arial"/>
              </a:rPr>
              <a:t>RMI — Renewables at the South Pole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F6FA8"/>
                </a:solidFill>
                <a:latin typeface="Arial"/>
              </a:rPr>
              <a:t>     rmi.org/blog_2015_11_11_renewables_at_the_south_pole/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99632" y="4901184"/>
            <a:ext cx="5669280" cy="1335024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D982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5E06"/>
                </a:solidFill>
                <a:latin typeface="Arial"/>
              </a:rPr>
              <a:t>KEY FINDING APPLIED IN THIS PROPOSAL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 b="0" i="0">
                <a:solidFill>
                  <a:srgbClr val="1B2836"/>
                </a:solidFill>
                <a:latin typeface="Arial"/>
              </a:rPr>
              <a:t>Mawson's diesel use fell from 600,000 L/yr to under 200,000 L/yr, letting the AAD refuel every second year instead of annually. Fuel efficiency converts directly into resupply resilience — which is exactly the outcome we optimise for.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